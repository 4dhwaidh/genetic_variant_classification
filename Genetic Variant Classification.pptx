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14"/>
  </p:notesMasterIdLst>
  <p:sldIdLst>
    <p:sldId id="278" r:id="rId5"/>
    <p:sldId id="280" r:id="rId6"/>
    <p:sldId id="289" r:id="rId7"/>
    <p:sldId id="288" r:id="rId8"/>
    <p:sldId id="281" r:id="rId9"/>
    <p:sldId id="287" r:id="rId10"/>
    <p:sldId id="282" r:id="rId11"/>
    <p:sldId id="290" r:id="rId12"/>
    <p:sldId id="28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2EBD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19" autoAdjust="0"/>
  </p:normalViewPr>
  <p:slideViewPr>
    <p:cSldViewPr snapToGrid="0">
      <p:cViewPr varScale="1">
        <p:scale>
          <a:sx n="80" d="100"/>
          <a:sy n="80" d="100"/>
        </p:scale>
        <p:origin x="782"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D01546-198A-4195-BCF8-F0FF54C90E5E}" type="datetimeFigureOut">
              <a:rPr lang="en-US" smtClean="0"/>
              <a:t>8/21/2025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6DE88F-1F85-4A27-9D34-D74A50E7B0DA}" type="slidenum">
              <a:rPr lang="en-US" smtClean="0"/>
              <a:t>‹#›</a:t>
            </a:fld>
            <a:endParaRPr lang="en-US" dirty="0"/>
          </a:p>
        </p:txBody>
      </p:sp>
    </p:spTree>
    <p:extLst>
      <p:ext uri="{BB962C8B-B14F-4D97-AF65-F5344CB8AC3E}">
        <p14:creationId xmlns:p14="http://schemas.microsoft.com/office/powerpoint/2010/main" val="37300918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77348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8D38747-4367-4BD2-8D51-C97E202738E2}" type="datetime1">
              <a:rPr lang="en-US" smtClean="0"/>
              <a:t>8/21/2025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1507467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C55A3C-5767-4844-A0A3-83778C2E5409}" type="datetime1">
              <a:rPr lang="en-US" smtClean="0"/>
              <a:t>8/21/2025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548654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763439"/>
            <a:ext cx="9590550" cy="133349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E507A8-A5CF-4D38-AB86-7EDDA87A85D4}" type="datetime1">
              <a:rPr lang="en-US" smtClean="0"/>
              <a:t>8/21/2025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846401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126187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76450"/>
            <a:ext cx="4856841" cy="362267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0716" y="2076451"/>
            <a:ext cx="4856841" cy="3622672"/>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FCD27C-8599-43EF-BA1D-14DDC1946E06}" type="datetime1">
              <a:rPr lang="en-US" smtClean="0"/>
              <a:t>8/21/2025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882058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a:extLst>
              <a:ext uri="{FF2B5EF4-FFF2-40B4-BE49-F238E27FC236}">
                <a16:creationId xmlns:a16="http://schemas.microsoft.com/office/drawing/2014/main" id="{37B721FF-D609-4D98-9D19-CF75AA8A54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29200" cy="4099959"/>
          </a:xfrm>
          <a:prstGeom prst="rect">
            <a:avLst/>
          </a:prstGeom>
        </p:spPr>
      </p:pic>
      <p:pic>
        <p:nvPicPr>
          <p:cNvPr id="21" name="Picture 20" descr="Slate-V2-HD-compPhotoInset.png">
            <a:extLst>
              <a:ext uri="{FF2B5EF4-FFF2-40B4-BE49-F238E27FC236}">
                <a16:creationId xmlns:a16="http://schemas.microsoft.com/office/drawing/2014/main" id="{073936BD-C868-433F-8E84-D6DD8E640E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8357" y="1734506"/>
            <a:ext cx="5029200" cy="4099959"/>
          </a:xfrm>
          <a:prstGeom prst="rect">
            <a:avLst/>
          </a:prstGeom>
        </p:spPr>
      </p:pic>
      <p:sp>
        <p:nvSpPr>
          <p:cNvPr id="2" name="Title 1"/>
          <p:cNvSpPr>
            <a:spLocks noGrp="1"/>
          </p:cNvSpPr>
          <p:nvPr>
            <p:ph type="title"/>
          </p:nvPr>
        </p:nvSpPr>
        <p:spPr>
          <a:xfrm>
            <a:off x="913795" y="609600"/>
            <a:ext cx="10353762" cy="97045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46013" y="1855153"/>
            <a:ext cx="4764764" cy="69249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46013" y="2702103"/>
            <a:ext cx="4764764"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3166" y="1855152"/>
            <a:ext cx="4779582" cy="692495"/>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3167" y="2702103"/>
            <a:ext cx="4779581"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9343D99-809A-49C0-96E5-4250D0B498EE}" type="datetime1">
              <a:rPr lang="en-US" smtClean="0"/>
              <a:t>8/21/2025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351203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143DE9B-B678-4EFB-BB7D-A4370204A0B0}" type="datetime1">
              <a:rPr lang="en-US" smtClean="0"/>
              <a:t>8/21/2025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90940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8812DA-F765-4142-A6A3-A8ED7235E082}" type="datetime1">
              <a:rPr lang="en-US" smtClean="0"/>
              <a:t>8/21/2025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551302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8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0800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673351"/>
            <a:ext cx="3706889" cy="301625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0277FD-7DE6-41D4-930D-AC99F5AFE54E}" type="datetime1">
              <a:rPr lang="en-US" smtClean="0"/>
              <a:t>8/21/2025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7935569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a:extLst>
              <a:ext uri="{FF2B5EF4-FFF2-40B4-BE49-F238E27FC236}">
                <a16:creationId xmlns:a16="http://schemas.microsoft.com/office/drawing/2014/main" id="{4D06E496-ACBA-4063-B4A1-C5C484EE5A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763701"/>
            <a:ext cx="5707899" cy="1675559"/>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73698" y="2679699"/>
            <a:ext cx="4588094" cy="3135695"/>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A15526-7079-4B7B-987C-1B5FAE11A0FF}" type="datetime1">
              <a:rPr lang="en-US" smtClean="0"/>
              <a:t>8/21/2025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30567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a:extLst>
              <a:ext uri="{FF2B5EF4-FFF2-40B4-BE49-F238E27FC236}">
                <a16:creationId xmlns:a16="http://schemas.microsoft.com/office/drawing/2014/main" id="{CE39118B-B3AD-4BD4-BA22-DEFF4E76C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247728"/>
            <a:ext cx="10353762" cy="543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F1B079-7EF0-44EE-B798-BCC497C9F3B2}" type="datetime1">
              <a:rPr lang="en-US" smtClean="0"/>
              <a:t>8/21/2025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095022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normAutofit/>
          </a:bodyPr>
          <a:lstStyle>
            <a:lvl1pPr>
              <a:defRPr sz="40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8FF70A8-1D13-4657-95F0-A9EA54967B8D}" type="datetime1">
              <a:rPr lang="en-US" smtClean="0"/>
              <a:t>8/21/2025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53850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1EB90AC-71BD-4C7F-8ACA-7B3F18292E63}" type="datetime1">
              <a:rPr lang="en-US" smtClean="0"/>
              <a:t>8/21/2025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
        <p:nvSpPr>
          <p:cNvPr id="11" name="TextBox 10">
            <a:extLst>
              <a:ext uri="{FF2B5EF4-FFF2-40B4-BE49-F238E27FC236}">
                <a16:creationId xmlns:a16="http://schemas.microsoft.com/office/drawing/2014/main" id="{223F0D53-0705-41B7-8554-09D21E7807F9}"/>
              </a:ext>
            </a:extLst>
          </p:cNvPr>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a:extLst>
              <a:ext uri="{FF2B5EF4-FFF2-40B4-BE49-F238E27FC236}">
                <a16:creationId xmlns:a16="http://schemas.microsoft.com/office/drawing/2014/main" id="{C7F647CD-0F1A-4BB3-89E0-A74F1E1B098D}"/>
              </a:ext>
            </a:extLst>
          </p:cNvPr>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7752911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6EFC2C-8905-46F0-B443-CE905B76BA01}" type="datetime1">
              <a:rPr lang="en-US" smtClean="0"/>
              <a:t>8/21/2025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450925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49"/>
            <a:ext cx="3300984" cy="764783"/>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768110"/>
            <a:ext cx="3300984" cy="302308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9079DC3-C9B5-499E-9140-0DC28B7074E2}" type="datetime1">
              <a:rPr lang="en-US" smtClean="0"/>
              <a:t>8/21/2025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326478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a:extLst>
              <a:ext uri="{FF2B5EF4-FFF2-40B4-BE49-F238E27FC236}">
                <a16:creationId xmlns:a16="http://schemas.microsoft.com/office/drawing/2014/main" id="{7E87C569-D426-4615-ADA7-B370EA9834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a:extLst>
              <a:ext uri="{FF2B5EF4-FFF2-40B4-BE49-F238E27FC236}">
                <a16:creationId xmlns:a16="http://schemas.microsoft.com/office/drawing/2014/main" id="{7B353ED4-7AD0-46C9-88ED-1A16B1433A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a:extLst>
              <a:ext uri="{FF2B5EF4-FFF2-40B4-BE49-F238E27FC236}">
                <a16:creationId xmlns:a16="http://schemas.microsoft.com/office/drawing/2014/main" id="{F561D985-AD57-459A-B3A6-EBF2960397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572443"/>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0BB33EA-E472-4D22-9C03-A9C14AA21CED}" type="datetime1">
              <a:rPr lang="en-US" smtClean="0"/>
              <a:t>8/21/2025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932546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125730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76450"/>
            <a:ext cx="10353762" cy="3714749"/>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6000749"/>
            <a:ext cx="2743200"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073ED0CC-082F-4160-86E5-0D6041F12778}" type="datetime1">
              <a:rPr lang="en-US" smtClean="0"/>
              <a:t>8/21/2025</a:t>
            </a:fld>
            <a:endParaRPr lang="en-US" dirty="0"/>
          </a:p>
        </p:txBody>
      </p:sp>
      <p:sp>
        <p:nvSpPr>
          <p:cNvPr id="5" name="Footer Placeholder 4"/>
          <p:cNvSpPr>
            <a:spLocks noGrp="1"/>
          </p:cNvSpPr>
          <p:nvPr>
            <p:ph type="ftr" sz="quarter" idx="3"/>
          </p:nvPr>
        </p:nvSpPr>
        <p:spPr>
          <a:xfrm>
            <a:off x="913795" y="6000749"/>
            <a:ext cx="6672865" cy="365125"/>
          </a:xfrm>
          <a:prstGeom prst="rect">
            <a:avLst/>
          </a:prstGeom>
        </p:spPr>
        <p:txBody>
          <a:bodyPr vert="horz" lIns="91440" tIns="45720" rIns="91440" bIns="45720" rtlCol="0" anchor="ctr"/>
          <a:lstStyle>
            <a:lvl1pPr algn="l">
              <a:defRPr sz="11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0514011" y="6000749"/>
            <a:ext cx="753545"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185897835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hf sldNum="0" hdr="0" ftr="0" dt="0"/>
  <p:txStyles>
    <p:titleStyle>
      <a:lvl1pPr algn="ctr" defTabSz="457200" rtl="0" eaLnBrk="1" latinLnBrk="0" hangingPunct="1">
        <a:lnSpc>
          <a:spcPct val="90000"/>
        </a:lnSpc>
        <a:spcBef>
          <a:spcPct val="0"/>
        </a:spcBef>
        <a:buNone/>
        <a:defRPr sz="4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3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image" Target="../media/image6.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8A1C807-B9AD-4C9B-BF9F-60F03428998E}"/>
              </a:ext>
              <a:ext uri="{C183D7F6-B498-43B3-948B-1728B52AA6E4}">
                <adec:decorative xmlns:adec="http://schemas.microsoft.com/office/drawing/2017/decorative" val="1"/>
              </a:ext>
            </a:extLst>
          </p:cNvPr>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0" y="11"/>
            <a:ext cx="12192000" cy="6857989"/>
          </a:xfrm>
          <a:prstGeom prst="rect">
            <a:avLst/>
          </a:prstGeom>
        </p:spPr>
      </p:pic>
      <p:sp useBgFill="1">
        <p:nvSpPr>
          <p:cNvPr id="103" name="Freeform 5">
            <a:extLst>
              <a:ext uri="{FF2B5EF4-FFF2-40B4-BE49-F238E27FC236}">
                <a16:creationId xmlns:a16="http://schemas.microsoft.com/office/drawing/2014/main" id="{FE469E50-3893-4ED6-92BA-2985C32B0C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5400000">
            <a:off x="7131809" y="1385982"/>
            <a:ext cx="4031414" cy="4100418"/>
          </a:xfrm>
          <a:custGeom>
            <a:avLst/>
            <a:gdLst>
              <a:gd name="T0" fmla="*/ 1577 w 1601"/>
              <a:gd name="T1" fmla="*/ 0 h 696"/>
              <a:gd name="T2" fmla="*/ 833 w 1601"/>
              <a:gd name="T3" fmla="*/ 0 h 696"/>
              <a:gd name="T4" fmla="*/ 768 w 1601"/>
              <a:gd name="T5" fmla="*/ 0 h 696"/>
              <a:gd name="T6" fmla="*/ 24 w 1601"/>
              <a:gd name="T7" fmla="*/ 0 h 696"/>
              <a:gd name="T8" fmla="*/ 0 w 1601"/>
              <a:gd name="T9" fmla="*/ 27 h 696"/>
              <a:gd name="T10" fmla="*/ 0 w 1601"/>
              <a:gd name="T11" fmla="*/ 669 h 696"/>
              <a:gd name="T12" fmla="*/ 24 w 1601"/>
              <a:gd name="T13" fmla="*/ 696 h 696"/>
              <a:gd name="T14" fmla="*/ 768 w 1601"/>
              <a:gd name="T15" fmla="*/ 696 h 696"/>
              <a:gd name="T16" fmla="*/ 833 w 1601"/>
              <a:gd name="T17" fmla="*/ 696 h 696"/>
              <a:gd name="T18" fmla="*/ 1577 w 1601"/>
              <a:gd name="T19" fmla="*/ 696 h 696"/>
              <a:gd name="T20" fmla="*/ 1601 w 1601"/>
              <a:gd name="T21" fmla="*/ 669 h 696"/>
              <a:gd name="T22" fmla="*/ 1601 w 1601"/>
              <a:gd name="T23" fmla="*/ 27 h 696"/>
              <a:gd name="T24" fmla="*/ 1577 w 1601"/>
              <a:gd name="T25" fmla="*/ 0 h 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01" h="696">
                <a:moveTo>
                  <a:pt x="1577" y="0"/>
                </a:moveTo>
                <a:cubicBezTo>
                  <a:pt x="833" y="0"/>
                  <a:pt x="833" y="0"/>
                  <a:pt x="833" y="0"/>
                </a:cubicBezTo>
                <a:cubicBezTo>
                  <a:pt x="768" y="0"/>
                  <a:pt x="768" y="0"/>
                  <a:pt x="768" y="0"/>
                </a:cubicBezTo>
                <a:cubicBezTo>
                  <a:pt x="24" y="0"/>
                  <a:pt x="24" y="0"/>
                  <a:pt x="24" y="0"/>
                </a:cubicBezTo>
                <a:cubicBezTo>
                  <a:pt x="11" y="0"/>
                  <a:pt x="0" y="12"/>
                  <a:pt x="0" y="27"/>
                </a:cubicBezTo>
                <a:cubicBezTo>
                  <a:pt x="0" y="669"/>
                  <a:pt x="0" y="669"/>
                  <a:pt x="0" y="669"/>
                </a:cubicBezTo>
                <a:cubicBezTo>
                  <a:pt x="0" y="684"/>
                  <a:pt x="11" y="696"/>
                  <a:pt x="24" y="696"/>
                </a:cubicBezTo>
                <a:cubicBezTo>
                  <a:pt x="768" y="696"/>
                  <a:pt x="768" y="696"/>
                  <a:pt x="768" y="696"/>
                </a:cubicBezTo>
                <a:cubicBezTo>
                  <a:pt x="833" y="696"/>
                  <a:pt x="833" y="696"/>
                  <a:pt x="833" y="696"/>
                </a:cubicBezTo>
                <a:cubicBezTo>
                  <a:pt x="1577" y="696"/>
                  <a:pt x="1577" y="696"/>
                  <a:pt x="1577" y="696"/>
                </a:cubicBezTo>
                <a:cubicBezTo>
                  <a:pt x="1590" y="696"/>
                  <a:pt x="1601" y="684"/>
                  <a:pt x="1601" y="669"/>
                </a:cubicBezTo>
                <a:cubicBezTo>
                  <a:pt x="1601" y="27"/>
                  <a:pt x="1601" y="27"/>
                  <a:pt x="1601" y="27"/>
                </a:cubicBezTo>
                <a:cubicBezTo>
                  <a:pt x="1601" y="12"/>
                  <a:pt x="1590" y="0"/>
                  <a:pt x="1577" y="0"/>
                </a:cubicBezTo>
                <a:close/>
              </a:path>
            </a:pathLst>
          </a:custGeom>
          <a:ln>
            <a:noFill/>
          </a:ln>
          <a:effectLst>
            <a:outerShdw blurRad="50800" dist="38100" dir="5400000" algn="tl" rotWithShape="0">
              <a:srgbClr val="000000">
                <a:alpha val="43000"/>
              </a:srgbClr>
            </a:outerShdw>
          </a:effectLst>
          <a:extLst>
            <a:ext uri="{91240B29-F687-4f45-9708-019B960494DF}">
              <a14:hiddenLine xmlns:a16="http://schemas.microsoft.com/office/drawing/2014/main" xmlns:p14="http://schemas.microsoft.com/office/powerpoint/2010/main"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oudy Old Style"/>
              <a:ea typeface="+mn-ea"/>
              <a:cs typeface="+mn-cs"/>
            </a:endParaRPr>
          </a:p>
        </p:txBody>
      </p:sp>
      <p:sp>
        <p:nvSpPr>
          <p:cNvPr id="2" name="Title 1">
            <a:extLst>
              <a:ext uri="{FF2B5EF4-FFF2-40B4-BE49-F238E27FC236}">
                <a16:creationId xmlns:a16="http://schemas.microsoft.com/office/drawing/2014/main" id="{0D1F047C-C727-42A7-85C5-68C5AA1B1A93}"/>
              </a:ext>
            </a:extLst>
          </p:cNvPr>
          <p:cNvSpPr>
            <a:spLocks noGrp="1"/>
          </p:cNvSpPr>
          <p:nvPr>
            <p:ph type="ctrTitle"/>
          </p:nvPr>
        </p:nvSpPr>
        <p:spPr>
          <a:xfrm>
            <a:off x="7218515" y="684646"/>
            <a:ext cx="4742268" cy="2420504"/>
          </a:xfrm>
        </p:spPr>
        <p:txBody>
          <a:bodyPr>
            <a:normAutofit/>
          </a:bodyPr>
          <a:lstStyle/>
          <a:p>
            <a:pPr algn="l"/>
            <a:r>
              <a:rPr lang="en-US" sz="4000" dirty="0"/>
              <a:t>Genetic Variant Classification </a:t>
            </a:r>
          </a:p>
        </p:txBody>
      </p:sp>
      <p:sp>
        <p:nvSpPr>
          <p:cNvPr id="3" name="Subtitle 2">
            <a:extLst>
              <a:ext uri="{FF2B5EF4-FFF2-40B4-BE49-F238E27FC236}">
                <a16:creationId xmlns:a16="http://schemas.microsoft.com/office/drawing/2014/main" id="{DB93FB3F-A8D4-46D3-A1C6-C79C64563729}"/>
              </a:ext>
            </a:extLst>
          </p:cNvPr>
          <p:cNvSpPr>
            <a:spLocks noGrp="1"/>
          </p:cNvSpPr>
          <p:nvPr>
            <p:ph type="subTitle" idx="1"/>
          </p:nvPr>
        </p:nvSpPr>
        <p:spPr>
          <a:xfrm>
            <a:off x="7218515" y="3276599"/>
            <a:ext cx="3744760" cy="1628775"/>
          </a:xfrm>
        </p:spPr>
        <p:txBody>
          <a:bodyPr>
            <a:normAutofit/>
          </a:bodyPr>
          <a:lstStyle/>
          <a:p>
            <a:pPr algn="l"/>
            <a:r>
              <a:rPr lang="en-US" sz="2300" dirty="0"/>
              <a:t>Group 15:</a:t>
            </a:r>
          </a:p>
          <a:p>
            <a:pPr marL="342900" indent="-342900" algn="l">
              <a:buAutoNum type="arabicParenR"/>
            </a:pPr>
            <a:r>
              <a:rPr lang="en-US" sz="1400" dirty="0"/>
              <a:t>Sarvesh Ram Kumar – CB.SC.U4AIE24048</a:t>
            </a:r>
          </a:p>
          <a:p>
            <a:pPr marL="342900" indent="-342900" algn="l">
              <a:buAutoNum type="arabicParenR"/>
            </a:pPr>
            <a:r>
              <a:rPr lang="en-US" sz="1400" dirty="0"/>
              <a:t>Adwaidh– CB.SC.U4AIE24003</a:t>
            </a:r>
          </a:p>
          <a:p>
            <a:pPr marL="342900" indent="-342900" algn="l">
              <a:buAutoNum type="arabicParenR"/>
            </a:pPr>
            <a:r>
              <a:rPr lang="en-US" sz="1400" dirty="0"/>
              <a:t>Nikhileshwara Reddy– CB.SC.U4AIE24063</a:t>
            </a:r>
          </a:p>
        </p:txBody>
      </p:sp>
    </p:spTree>
    <p:extLst>
      <p:ext uri="{BB962C8B-B14F-4D97-AF65-F5344CB8AC3E}">
        <p14:creationId xmlns:p14="http://schemas.microsoft.com/office/powerpoint/2010/main" val="41678842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2D94D123-B00B-0300-B934-FE0661648718}"/>
              </a:ext>
            </a:extLst>
          </p:cNvPr>
          <p:cNvSpPr/>
          <p:nvPr/>
        </p:nvSpPr>
        <p:spPr>
          <a:xfrm>
            <a:off x="919119" y="1409701"/>
            <a:ext cx="10353762" cy="4924423"/>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buFont typeface="Wingdings" panose="05000000000000000000" pitchFamily="2" charset="2"/>
              <a:buChar char="v"/>
            </a:pPr>
            <a:r>
              <a:rPr lang="en-US" sz="2800" dirty="0">
                <a:solidFill>
                  <a:schemeClr val="bg1"/>
                </a:solidFill>
              </a:rPr>
              <a:t>Genetic variants are differences in DNA sequences that may contribute to diseases or benign traits. This project explores the ClinVar Conflicting dataset from Kaggle to analyze variants classified differently by laboratories. Using machine learning, we aim to study the patterns in classification and identify challenges in variant interpretation.</a:t>
            </a:r>
          </a:p>
          <a:p>
            <a:pPr marL="457200" indent="-457200">
              <a:buFont typeface="Wingdings" panose="05000000000000000000" pitchFamily="2" charset="2"/>
              <a:buChar char="v"/>
            </a:pPr>
            <a:r>
              <a:rPr lang="en-US" sz="2800" dirty="0">
                <a:solidFill>
                  <a:schemeClr val="bg1"/>
                </a:solidFill>
              </a:rPr>
              <a:t>So, we will be using ML models like XGBClassifier to classify the classes in the dataset and find out which one the data group belongs to.</a:t>
            </a:r>
          </a:p>
          <a:p>
            <a:pPr algn="ctr"/>
            <a:endParaRPr lang="en-IN" sz="2800" dirty="0">
              <a:solidFill>
                <a:schemeClr val="bg1"/>
              </a:solidFill>
            </a:endParaRPr>
          </a:p>
        </p:txBody>
      </p:sp>
      <p:sp>
        <p:nvSpPr>
          <p:cNvPr id="2" name="Title 1">
            <a:extLst>
              <a:ext uri="{FF2B5EF4-FFF2-40B4-BE49-F238E27FC236}">
                <a16:creationId xmlns:a16="http://schemas.microsoft.com/office/drawing/2014/main" id="{A0157134-E360-E627-7BFA-AAAEADA06F78}"/>
              </a:ext>
            </a:extLst>
          </p:cNvPr>
          <p:cNvSpPr>
            <a:spLocks noGrp="1"/>
          </p:cNvSpPr>
          <p:nvPr>
            <p:ph type="title"/>
          </p:nvPr>
        </p:nvSpPr>
        <p:spPr>
          <a:xfrm>
            <a:off x="1047145" y="238126"/>
            <a:ext cx="10353762" cy="1257300"/>
          </a:xfrm>
        </p:spPr>
        <p:txBody>
          <a:bodyPr>
            <a:normAutofit/>
          </a:bodyPr>
          <a:lstStyle/>
          <a:p>
            <a:pPr algn="l"/>
            <a:r>
              <a:rPr lang="en-IN" sz="4800" dirty="0"/>
              <a:t>Abstract:</a:t>
            </a:r>
          </a:p>
        </p:txBody>
      </p:sp>
      <p:sp>
        <p:nvSpPr>
          <p:cNvPr id="7" name="Isosceles Triangle 6">
            <a:extLst>
              <a:ext uri="{FF2B5EF4-FFF2-40B4-BE49-F238E27FC236}">
                <a16:creationId xmlns:a16="http://schemas.microsoft.com/office/drawing/2014/main" id="{1382DBFC-EE01-0374-C971-015FB03F9845}"/>
              </a:ext>
            </a:extLst>
          </p:cNvPr>
          <p:cNvSpPr/>
          <p:nvPr/>
        </p:nvSpPr>
        <p:spPr>
          <a:xfrm flipV="1">
            <a:off x="9858374" y="9526"/>
            <a:ext cx="2333626" cy="857250"/>
          </a:xfrm>
          <a:prstGeom prst="triangle">
            <a:avLst>
              <a:gd name="adj" fmla="val 100000"/>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3525450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13EE1-6D62-B003-EAA5-1A2D445BE45B}"/>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4880798-6E1A-66BB-B4E3-29040C335A1D}"/>
              </a:ext>
            </a:extLst>
          </p:cNvPr>
          <p:cNvSpPr/>
          <p:nvPr/>
        </p:nvSpPr>
        <p:spPr>
          <a:xfrm>
            <a:off x="919119" y="1409701"/>
            <a:ext cx="10353762" cy="4924423"/>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2400" dirty="0">
                <a:solidFill>
                  <a:schemeClr val="bg1"/>
                </a:solidFill>
              </a:rPr>
              <a:t>Genetic variants occur when DNA sequences differ between individuals.</a:t>
            </a:r>
          </a:p>
          <a:p>
            <a:endParaRPr lang="en-US" sz="2400" dirty="0">
              <a:solidFill>
                <a:schemeClr val="bg1"/>
              </a:solidFill>
            </a:endParaRPr>
          </a:p>
          <a:p>
            <a:r>
              <a:rPr lang="en-US" sz="2400" dirty="0">
                <a:solidFill>
                  <a:schemeClr val="bg1"/>
                </a:solidFill>
              </a:rPr>
              <a:t>Types of genetic variants:</a:t>
            </a:r>
          </a:p>
          <a:p>
            <a:r>
              <a:rPr lang="en-US" sz="2400" dirty="0">
                <a:solidFill>
                  <a:schemeClr val="bg1"/>
                </a:solidFill>
              </a:rPr>
              <a:t>- Single Nucleotide Variants (SNVs)</a:t>
            </a:r>
          </a:p>
          <a:p>
            <a:r>
              <a:rPr lang="en-US" sz="2400" dirty="0">
                <a:solidFill>
                  <a:schemeClr val="bg1"/>
                </a:solidFill>
              </a:rPr>
              <a:t>- Insertions/Deletions (indels)</a:t>
            </a:r>
          </a:p>
          <a:p>
            <a:r>
              <a:rPr lang="en-US" sz="2400" dirty="0">
                <a:solidFill>
                  <a:schemeClr val="bg1"/>
                </a:solidFill>
              </a:rPr>
              <a:t>- Structural Variants</a:t>
            </a:r>
          </a:p>
          <a:p>
            <a:endParaRPr lang="en-US" sz="2400" dirty="0">
              <a:solidFill>
                <a:schemeClr val="bg1"/>
              </a:solidFill>
            </a:endParaRPr>
          </a:p>
          <a:p>
            <a:r>
              <a:rPr lang="en-US" sz="2400" dirty="0">
                <a:solidFill>
                  <a:schemeClr val="bg1"/>
                </a:solidFill>
              </a:rPr>
              <a:t>Some variants are associated with diseases, while others are benign or of uncertain significance. Accurate interpretation is essential for precision medicine.</a:t>
            </a:r>
          </a:p>
          <a:p>
            <a:pPr algn="ctr"/>
            <a:endParaRPr lang="en-IN" sz="2400" dirty="0">
              <a:solidFill>
                <a:schemeClr val="bg1"/>
              </a:solidFill>
            </a:endParaRPr>
          </a:p>
        </p:txBody>
      </p:sp>
      <p:sp>
        <p:nvSpPr>
          <p:cNvPr id="2" name="Title 1">
            <a:extLst>
              <a:ext uri="{FF2B5EF4-FFF2-40B4-BE49-F238E27FC236}">
                <a16:creationId xmlns:a16="http://schemas.microsoft.com/office/drawing/2014/main" id="{E76EA0AC-989C-B55F-FB94-AB554B30D4A5}"/>
              </a:ext>
            </a:extLst>
          </p:cNvPr>
          <p:cNvSpPr>
            <a:spLocks noGrp="1"/>
          </p:cNvSpPr>
          <p:nvPr>
            <p:ph type="title"/>
          </p:nvPr>
        </p:nvSpPr>
        <p:spPr>
          <a:xfrm>
            <a:off x="1047145" y="238126"/>
            <a:ext cx="10353762" cy="1257300"/>
          </a:xfrm>
        </p:spPr>
        <p:txBody>
          <a:bodyPr>
            <a:normAutofit/>
          </a:bodyPr>
          <a:lstStyle/>
          <a:p>
            <a:pPr algn="l"/>
            <a:r>
              <a:rPr lang="en-IN" sz="4800" dirty="0"/>
              <a:t>Introduction:</a:t>
            </a:r>
          </a:p>
        </p:txBody>
      </p:sp>
      <p:sp>
        <p:nvSpPr>
          <p:cNvPr id="7" name="Isosceles Triangle 6">
            <a:extLst>
              <a:ext uri="{FF2B5EF4-FFF2-40B4-BE49-F238E27FC236}">
                <a16:creationId xmlns:a16="http://schemas.microsoft.com/office/drawing/2014/main" id="{534C2178-6993-8A74-D7CA-7E37E91718D8}"/>
              </a:ext>
            </a:extLst>
          </p:cNvPr>
          <p:cNvSpPr/>
          <p:nvPr/>
        </p:nvSpPr>
        <p:spPr>
          <a:xfrm flipV="1">
            <a:off x="9858374" y="9526"/>
            <a:ext cx="2333626" cy="857250"/>
          </a:xfrm>
          <a:prstGeom prst="triangle">
            <a:avLst>
              <a:gd name="adj" fmla="val 100000"/>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1020741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A0BC4C-5FB9-983F-E6D8-77BC8D33923A}"/>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5838CFEB-907A-0490-60D7-BC406D7805A0}"/>
              </a:ext>
            </a:extLst>
          </p:cNvPr>
          <p:cNvSpPr/>
          <p:nvPr/>
        </p:nvSpPr>
        <p:spPr>
          <a:xfrm>
            <a:off x="791093" y="1495426"/>
            <a:ext cx="10353762" cy="4895848"/>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2400" dirty="0">
                <a:solidFill>
                  <a:schemeClr val="bg1"/>
                </a:solidFill>
              </a:rPr>
              <a:t>- ClinVar is a widely used database for variant pathogenicity interpretation.</a:t>
            </a:r>
          </a:p>
          <a:p>
            <a:r>
              <a:rPr lang="en-US" sz="2400" dirty="0">
                <a:solidFill>
                  <a:schemeClr val="bg1"/>
                </a:solidFill>
              </a:rPr>
              <a:t>- Tools like </a:t>
            </a:r>
            <a:r>
              <a:rPr lang="en-US" sz="2400" dirty="0" err="1">
                <a:solidFill>
                  <a:schemeClr val="bg1"/>
                </a:solidFill>
              </a:rPr>
              <a:t>PolyPhen</a:t>
            </a:r>
            <a:r>
              <a:rPr lang="en-US" sz="2400" dirty="0">
                <a:solidFill>
                  <a:schemeClr val="bg1"/>
                </a:solidFill>
              </a:rPr>
              <a:t>, SIFT, and CADD predict variant effects.</a:t>
            </a:r>
          </a:p>
          <a:p>
            <a:r>
              <a:rPr lang="en-US" sz="2400" dirty="0">
                <a:solidFill>
                  <a:schemeClr val="bg1"/>
                </a:solidFill>
              </a:rPr>
              <a:t>- Previous studies show inconsistencies in variant classification among labs.</a:t>
            </a:r>
          </a:p>
          <a:p>
            <a:endParaRPr lang="en-US" sz="2400" dirty="0">
              <a:solidFill>
                <a:schemeClr val="bg1"/>
              </a:solidFill>
            </a:endParaRPr>
          </a:p>
          <a:p>
            <a:r>
              <a:rPr lang="en-US" sz="2400" b="1" dirty="0">
                <a:solidFill>
                  <a:schemeClr val="bg1"/>
                </a:solidFill>
              </a:rPr>
              <a:t>Research Gap:</a:t>
            </a:r>
          </a:p>
          <a:p>
            <a:r>
              <a:rPr lang="en-US" sz="2400" dirty="0">
                <a:solidFill>
                  <a:schemeClr val="bg1"/>
                </a:solidFill>
              </a:rPr>
              <a:t>- Lack of consensus in variant classification creates uncertainty.</a:t>
            </a:r>
          </a:p>
          <a:p>
            <a:r>
              <a:rPr lang="en-US" sz="2400" dirty="0">
                <a:solidFill>
                  <a:schemeClr val="bg1"/>
                </a:solidFill>
              </a:rPr>
              <a:t>- Need for machine learning approaches to resolve conflicting annotations.</a:t>
            </a:r>
          </a:p>
          <a:p>
            <a:r>
              <a:rPr lang="en-US" sz="2400" dirty="0">
                <a:solidFill>
                  <a:schemeClr val="bg1"/>
                </a:solidFill>
              </a:rPr>
              <a:t>- Limited datasets specifically targeting conflicting interpretations.</a:t>
            </a:r>
          </a:p>
          <a:p>
            <a:r>
              <a:rPr lang="en-US" sz="2400" dirty="0">
                <a:solidFill>
                  <a:schemeClr val="bg1"/>
                </a:solidFill>
              </a:rPr>
              <a:t>- So, we will be using XGB Classifier and SVM to classify the genetic variants and be able ton clear the uncertainties.</a:t>
            </a:r>
          </a:p>
        </p:txBody>
      </p:sp>
      <p:sp>
        <p:nvSpPr>
          <p:cNvPr id="2" name="Title 1">
            <a:extLst>
              <a:ext uri="{FF2B5EF4-FFF2-40B4-BE49-F238E27FC236}">
                <a16:creationId xmlns:a16="http://schemas.microsoft.com/office/drawing/2014/main" id="{ACD7D672-8DC2-6901-36FF-8CDAC5D80CF5}"/>
              </a:ext>
            </a:extLst>
          </p:cNvPr>
          <p:cNvSpPr>
            <a:spLocks noGrp="1"/>
          </p:cNvSpPr>
          <p:nvPr>
            <p:ph type="title"/>
          </p:nvPr>
        </p:nvSpPr>
        <p:spPr>
          <a:xfrm>
            <a:off x="1047145" y="238126"/>
            <a:ext cx="10353762" cy="1257300"/>
          </a:xfrm>
        </p:spPr>
        <p:txBody>
          <a:bodyPr>
            <a:normAutofit/>
          </a:bodyPr>
          <a:lstStyle/>
          <a:p>
            <a:pPr algn="l"/>
            <a:r>
              <a:rPr lang="en-IN" sz="4800" dirty="0"/>
              <a:t>Literature Review :</a:t>
            </a:r>
          </a:p>
        </p:txBody>
      </p:sp>
      <p:sp>
        <p:nvSpPr>
          <p:cNvPr id="7" name="Isosceles Triangle 6">
            <a:extLst>
              <a:ext uri="{FF2B5EF4-FFF2-40B4-BE49-F238E27FC236}">
                <a16:creationId xmlns:a16="http://schemas.microsoft.com/office/drawing/2014/main" id="{B2737AC6-54FD-EB94-E007-AEA1DBB7974D}"/>
              </a:ext>
            </a:extLst>
          </p:cNvPr>
          <p:cNvSpPr/>
          <p:nvPr/>
        </p:nvSpPr>
        <p:spPr>
          <a:xfrm flipV="1">
            <a:off x="9858374" y="9526"/>
            <a:ext cx="2333626" cy="857250"/>
          </a:xfrm>
          <a:prstGeom prst="triangle">
            <a:avLst>
              <a:gd name="adj" fmla="val 100000"/>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5437701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E74FCD-900D-E76A-D771-A9EDFA9D0268}"/>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265E22CE-32A6-7AAE-8E34-F7B694EF885E}"/>
              </a:ext>
            </a:extLst>
          </p:cNvPr>
          <p:cNvSpPr/>
          <p:nvPr/>
        </p:nvSpPr>
        <p:spPr>
          <a:xfrm>
            <a:off x="648017" y="1410486"/>
            <a:ext cx="5439380" cy="4980789"/>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E61FD034-F05E-9760-C0D9-80604A2B4C2B}"/>
              </a:ext>
            </a:extLst>
          </p:cNvPr>
          <p:cNvSpPr>
            <a:spLocks noGrp="1"/>
          </p:cNvSpPr>
          <p:nvPr>
            <p:ph type="title"/>
          </p:nvPr>
        </p:nvSpPr>
        <p:spPr>
          <a:xfrm>
            <a:off x="1076238" y="153186"/>
            <a:ext cx="10353762" cy="1257300"/>
          </a:xfrm>
        </p:spPr>
        <p:txBody>
          <a:bodyPr/>
          <a:lstStyle/>
          <a:p>
            <a:pPr algn="l"/>
            <a:r>
              <a:rPr lang="en-IN" dirty="0"/>
              <a:t>Dataset &amp; Overall Flow of Project:</a:t>
            </a:r>
          </a:p>
        </p:txBody>
      </p:sp>
      <p:sp>
        <p:nvSpPr>
          <p:cNvPr id="3" name="Content Placeholder 2">
            <a:extLst>
              <a:ext uri="{FF2B5EF4-FFF2-40B4-BE49-F238E27FC236}">
                <a16:creationId xmlns:a16="http://schemas.microsoft.com/office/drawing/2014/main" id="{A3AE92C1-1BBD-0720-5EA7-281CFF4D36DC}"/>
              </a:ext>
            </a:extLst>
          </p:cNvPr>
          <p:cNvSpPr>
            <a:spLocks noGrp="1"/>
          </p:cNvSpPr>
          <p:nvPr>
            <p:ph idx="1"/>
          </p:nvPr>
        </p:nvSpPr>
        <p:spPr>
          <a:xfrm>
            <a:off x="986251" y="1642706"/>
            <a:ext cx="4654698" cy="4529494"/>
          </a:xfrm>
          <a:noFill/>
          <a:ln>
            <a:noFill/>
          </a:ln>
        </p:spPr>
        <p:style>
          <a:lnRef idx="2">
            <a:schemeClr val="dk1"/>
          </a:lnRef>
          <a:fillRef idx="1">
            <a:schemeClr val="lt1"/>
          </a:fillRef>
          <a:effectRef idx="0">
            <a:schemeClr val="dk1"/>
          </a:effectRef>
          <a:fontRef idx="minor">
            <a:schemeClr val="dk1"/>
          </a:fontRef>
        </p:style>
        <p:txBody>
          <a:bodyPr>
            <a:noAutofit/>
          </a:bodyPr>
          <a:lstStyle/>
          <a:p>
            <a:pPr marL="36900" indent="0">
              <a:buNone/>
            </a:pPr>
            <a:r>
              <a:rPr lang="en-IN" sz="2000" b="1" dirty="0"/>
              <a:t>Dataset: ClinVar Conflicting (Kaggle)</a:t>
            </a:r>
          </a:p>
          <a:p>
            <a:r>
              <a:rPr lang="en-IN" sz="2000" dirty="0"/>
              <a:t>- Source: ClinVar database (NCBI)</a:t>
            </a:r>
          </a:p>
          <a:p>
            <a:r>
              <a:rPr lang="en-IN" sz="2000" dirty="0"/>
              <a:t>- Contains ~65,000 genetic variant records</a:t>
            </a:r>
          </a:p>
          <a:p>
            <a:pPr marL="36900" indent="0">
              <a:buNone/>
            </a:pPr>
            <a:r>
              <a:rPr lang="en-IN" sz="2000" b="1" dirty="0"/>
              <a:t>Features include:</a:t>
            </a:r>
          </a:p>
          <a:p>
            <a:r>
              <a:rPr lang="en-IN" sz="2000" dirty="0"/>
              <a:t>  • Variant ID</a:t>
            </a:r>
          </a:p>
          <a:p>
            <a:r>
              <a:rPr lang="en-IN" sz="2000" dirty="0"/>
              <a:t>  • Gene information</a:t>
            </a:r>
          </a:p>
          <a:p>
            <a:r>
              <a:rPr lang="en-IN" sz="2000" dirty="0"/>
              <a:t>  • Clinical significance (benign, pathogenic, uncertain, conflicting)</a:t>
            </a:r>
          </a:p>
          <a:p>
            <a:r>
              <a:rPr lang="en-IN" sz="2000" dirty="0"/>
              <a:t>  • Review status</a:t>
            </a:r>
          </a:p>
          <a:p>
            <a:pPr marL="0" lvl="0" indent="0" defTabSz="914400" eaLnBrk="0" fontAlgn="base" hangingPunct="0">
              <a:lnSpc>
                <a:spcPct val="100000"/>
              </a:lnSpc>
              <a:spcBef>
                <a:spcPct val="0"/>
              </a:spcBef>
              <a:spcAft>
                <a:spcPct val="0"/>
              </a:spcAft>
              <a:buClrTx/>
              <a:buSzTx/>
              <a:buNone/>
            </a:pPr>
            <a:endParaRPr lang="en-IN" sz="2000" dirty="0">
              <a:solidFill>
                <a:schemeClr val="bg1"/>
              </a:solidFill>
            </a:endParaRPr>
          </a:p>
        </p:txBody>
      </p:sp>
      <p:sp>
        <p:nvSpPr>
          <p:cNvPr id="5" name="Isosceles Triangle 4">
            <a:extLst>
              <a:ext uri="{FF2B5EF4-FFF2-40B4-BE49-F238E27FC236}">
                <a16:creationId xmlns:a16="http://schemas.microsoft.com/office/drawing/2014/main" id="{CAF79834-DCB2-1C28-BCC7-8B44294F6A5E}"/>
              </a:ext>
            </a:extLst>
          </p:cNvPr>
          <p:cNvSpPr/>
          <p:nvPr/>
        </p:nvSpPr>
        <p:spPr>
          <a:xfrm flipV="1">
            <a:off x="9858374" y="9526"/>
            <a:ext cx="2333626" cy="857250"/>
          </a:xfrm>
          <a:prstGeom prst="triangle">
            <a:avLst>
              <a:gd name="adj" fmla="val 100000"/>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8032C25A-DF8B-DDAA-1D2E-DF3C9EE73A44}"/>
              </a:ext>
            </a:extLst>
          </p:cNvPr>
          <p:cNvSpPr/>
          <p:nvPr/>
        </p:nvSpPr>
        <p:spPr>
          <a:xfrm>
            <a:off x="6348256" y="1337493"/>
            <a:ext cx="5486400" cy="5125681"/>
          </a:xfrm>
          <a:prstGeom prst="rect">
            <a:avLst/>
          </a:prstGeom>
          <a:solidFill>
            <a:schemeClr val="tx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Rounded Corners 6">
            <a:extLst>
              <a:ext uri="{FF2B5EF4-FFF2-40B4-BE49-F238E27FC236}">
                <a16:creationId xmlns:a16="http://schemas.microsoft.com/office/drawing/2014/main" id="{96720FF6-36BE-2A9E-250E-85F6F6EEC4E3}"/>
              </a:ext>
            </a:extLst>
          </p:cNvPr>
          <p:cNvSpPr/>
          <p:nvPr/>
        </p:nvSpPr>
        <p:spPr>
          <a:xfrm>
            <a:off x="6767356" y="2399204"/>
            <a:ext cx="2324100" cy="504825"/>
          </a:xfrm>
          <a:prstGeom prst="roundRect">
            <a:avLst/>
          </a:prstGeom>
          <a:solidFill>
            <a:srgbClr val="F2EBD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bg1"/>
                </a:solidFill>
              </a:rPr>
              <a:t>Dataset Preprocessing</a:t>
            </a:r>
          </a:p>
        </p:txBody>
      </p:sp>
      <p:sp>
        <p:nvSpPr>
          <p:cNvPr id="8" name="Rectangle: Rounded Corners 7">
            <a:extLst>
              <a:ext uri="{FF2B5EF4-FFF2-40B4-BE49-F238E27FC236}">
                <a16:creationId xmlns:a16="http://schemas.microsoft.com/office/drawing/2014/main" id="{7D9316B4-8BBF-8B29-CDC8-35FCF4B1AA08}"/>
              </a:ext>
            </a:extLst>
          </p:cNvPr>
          <p:cNvSpPr/>
          <p:nvPr/>
        </p:nvSpPr>
        <p:spPr>
          <a:xfrm>
            <a:off x="6767356" y="3285029"/>
            <a:ext cx="2324100" cy="504825"/>
          </a:xfrm>
          <a:prstGeom prst="roundRect">
            <a:avLst/>
          </a:prstGeom>
          <a:solidFill>
            <a:srgbClr val="F2EBD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bg1"/>
                </a:solidFill>
              </a:rPr>
              <a:t>Scaling &amp; Splitting</a:t>
            </a:r>
          </a:p>
        </p:txBody>
      </p:sp>
      <p:sp>
        <p:nvSpPr>
          <p:cNvPr id="9" name="Rectangle: Rounded Corners 8">
            <a:extLst>
              <a:ext uri="{FF2B5EF4-FFF2-40B4-BE49-F238E27FC236}">
                <a16:creationId xmlns:a16="http://schemas.microsoft.com/office/drawing/2014/main" id="{4D4400EE-2BF8-B4F1-167C-4F159DBDE8CD}"/>
              </a:ext>
            </a:extLst>
          </p:cNvPr>
          <p:cNvSpPr/>
          <p:nvPr/>
        </p:nvSpPr>
        <p:spPr>
          <a:xfrm>
            <a:off x="6767356" y="4170854"/>
            <a:ext cx="2324100" cy="504825"/>
          </a:xfrm>
          <a:prstGeom prst="roundRect">
            <a:avLst/>
          </a:prstGeom>
          <a:solidFill>
            <a:srgbClr val="F2EBD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bg1"/>
                </a:solidFill>
              </a:rPr>
              <a:t>Training Models</a:t>
            </a:r>
          </a:p>
        </p:txBody>
      </p:sp>
      <p:sp>
        <p:nvSpPr>
          <p:cNvPr id="10" name="Rectangle: Rounded Corners 9">
            <a:extLst>
              <a:ext uri="{FF2B5EF4-FFF2-40B4-BE49-F238E27FC236}">
                <a16:creationId xmlns:a16="http://schemas.microsoft.com/office/drawing/2014/main" id="{54837637-F2C2-36A3-C56A-1A1C59A7FC73}"/>
              </a:ext>
            </a:extLst>
          </p:cNvPr>
          <p:cNvSpPr/>
          <p:nvPr/>
        </p:nvSpPr>
        <p:spPr>
          <a:xfrm>
            <a:off x="6767356" y="5056679"/>
            <a:ext cx="2324100" cy="504825"/>
          </a:xfrm>
          <a:prstGeom prst="roundRect">
            <a:avLst/>
          </a:prstGeom>
          <a:solidFill>
            <a:srgbClr val="F2EBD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bg1"/>
                </a:solidFill>
              </a:rPr>
              <a:t>Analysis of Results</a:t>
            </a:r>
          </a:p>
        </p:txBody>
      </p:sp>
      <p:sp>
        <p:nvSpPr>
          <p:cNvPr id="11" name="Content Placeholder 2">
            <a:extLst>
              <a:ext uri="{FF2B5EF4-FFF2-40B4-BE49-F238E27FC236}">
                <a16:creationId xmlns:a16="http://schemas.microsoft.com/office/drawing/2014/main" id="{E94551F8-FE6A-FB62-7BEE-9A0BB774FD4E}"/>
              </a:ext>
            </a:extLst>
          </p:cNvPr>
          <p:cNvSpPr txBox="1">
            <a:spLocks/>
          </p:cNvSpPr>
          <p:nvPr/>
        </p:nvSpPr>
        <p:spPr>
          <a:xfrm>
            <a:off x="6702214" y="1571322"/>
            <a:ext cx="3726427" cy="543084"/>
          </a:xfrm>
          <a:prstGeom prst="rect">
            <a:avLst/>
          </a:prstGeom>
          <a:noFill/>
          <a:ln w="15875" cap="rnd" cmpd="sng" algn="ctr">
            <a:noFill/>
            <a:prstDash val="solid"/>
          </a:ln>
        </p:spPr>
        <p:style>
          <a:lnRef idx="2">
            <a:schemeClr val="dk1"/>
          </a:lnRef>
          <a:fillRef idx="1">
            <a:schemeClr val="lt1"/>
          </a:fillRef>
          <a:effectRef idx="0">
            <a:schemeClr val="dk1"/>
          </a:effectRef>
          <a:fontRef idx="minor">
            <a:schemeClr val="dk1"/>
          </a:fontRef>
        </p:style>
        <p:txBody>
          <a:bodyPr vert="horz" lIns="91440" tIns="45720" rIns="91440" bIns="45720" rtlCol="0" anchor="t">
            <a:noAutofit/>
          </a:bodyPr>
          <a:lst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300" kern="1200">
                <a:ln>
                  <a:solidFill>
                    <a:schemeClr val="bg1">
                      <a:lumMod val="75000"/>
                      <a:lumOff val="25000"/>
                      <a:alpha val="10000"/>
                    </a:schemeClr>
                  </a:solidFill>
                </a:ln>
                <a:solidFill>
                  <a:schemeClr val="dk1"/>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dk1"/>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dk1"/>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dk1"/>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dk1"/>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dk1"/>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dk1"/>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dk1"/>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dk1"/>
                </a:solidFill>
                <a:effectLst>
                  <a:outerShdw blurRad="9525" dist="25400" dir="14640000" algn="tl" rotWithShape="0">
                    <a:schemeClr val="bg1">
                      <a:alpha val="30000"/>
                    </a:schemeClr>
                  </a:outerShdw>
                </a:effectLst>
                <a:latin typeface="+mn-lt"/>
                <a:ea typeface="+mn-ea"/>
                <a:cs typeface="+mn-cs"/>
              </a:defRPr>
            </a:lvl9pPr>
          </a:lstStyle>
          <a:p>
            <a:pPr marL="36900" indent="0">
              <a:buFont typeface="Wingdings 2" charset="2"/>
              <a:buNone/>
            </a:pPr>
            <a:r>
              <a:rPr lang="en-US" sz="2400" b="1" dirty="0"/>
              <a:t>Overall Flow of the Project:</a:t>
            </a:r>
          </a:p>
          <a:p>
            <a:pPr marL="36900" indent="0">
              <a:buFont typeface="Wingdings 2" charset="2"/>
              <a:buNone/>
            </a:pPr>
            <a:endParaRPr lang="en-US" sz="2400" dirty="0"/>
          </a:p>
          <a:p>
            <a:pPr marL="36900" indent="0">
              <a:buFont typeface="Wingdings 2" charset="2"/>
              <a:buNone/>
            </a:pPr>
            <a:endParaRPr lang="en-IN" sz="2400" dirty="0">
              <a:solidFill>
                <a:schemeClr val="bg1"/>
              </a:solidFill>
            </a:endParaRPr>
          </a:p>
        </p:txBody>
      </p:sp>
      <p:cxnSp>
        <p:nvCxnSpPr>
          <p:cNvPr id="12" name="Straight Arrow Connector 11">
            <a:extLst>
              <a:ext uri="{FF2B5EF4-FFF2-40B4-BE49-F238E27FC236}">
                <a16:creationId xmlns:a16="http://schemas.microsoft.com/office/drawing/2014/main" id="{EAB24205-4576-C205-1873-279FAAB56C12}"/>
              </a:ext>
            </a:extLst>
          </p:cNvPr>
          <p:cNvCxnSpPr>
            <a:endCxn id="8" idx="0"/>
          </p:cNvCxnSpPr>
          <p:nvPr/>
        </p:nvCxnSpPr>
        <p:spPr>
          <a:xfrm>
            <a:off x="7929406" y="2904029"/>
            <a:ext cx="0" cy="3810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3" name="Straight Arrow Connector 12">
            <a:extLst>
              <a:ext uri="{FF2B5EF4-FFF2-40B4-BE49-F238E27FC236}">
                <a16:creationId xmlns:a16="http://schemas.microsoft.com/office/drawing/2014/main" id="{C085ED40-9783-AF86-29C1-C9AE8C94B724}"/>
              </a:ext>
            </a:extLst>
          </p:cNvPr>
          <p:cNvCxnSpPr/>
          <p:nvPr/>
        </p:nvCxnSpPr>
        <p:spPr>
          <a:xfrm>
            <a:off x="7952143" y="3789854"/>
            <a:ext cx="0" cy="3810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4" name="Straight Arrow Connector 13">
            <a:extLst>
              <a:ext uri="{FF2B5EF4-FFF2-40B4-BE49-F238E27FC236}">
                <a16:creationId xmlns:a16="http://schemas.microsoft.com/office/drawing/2014/main" id="{20B0ECF4-B2F3-ABE0-7AE9-9F1F3F37D74F}"/>
              </a:ext>
            </a:extLst>
          </p:cNvPr>
          <p:cNvCxnSpPr/>
          <p:nvPr/>
        </p:nvCxnSpPr>
        <p:spPr>
          <a:xfrm>
            <a:off x="7974880" y="4675679"/>
            <a:ext cx="0" cy="3810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5" name="Straight Arrow Connector 14">
            <a:extLst>
              <a:ext uri="{FF2B5EF4-FFF2-40B4-BE49-F238E27FC236}">
                <a16:creationId xmlns:a16="http://schemas.microsoft.com/office/drawing/2014/main" id="{921C9BBF-3863-B99C-8754-0D13CB76C2A9}"/>
              </a:ext>
            </a:extLst>
          </p:cNvPr>
          <p:cNvCxnSpPr>
            <a:cxnSpLocks/>
          </p:cNvCxnSpPr>
          <p:nvPr/>
        </p:nvCxnSpPr>
        <p:spPr>
          <a:xfrm>
            <a:off x="9091456" y="2651616"/>
            <a:ext cx="27530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6" name="TextBox 15">
            <a:extLst>
              <a:ext uri="{FF2B5EF4-FFF2-40B4-BE49-F238E27FC236}">
                <a16:creationId xmlns:a16="http://schemas.microsoft.com/office/drawing/2014/main" id="{A45B5A55-668E-04C9-1941-3E17D26FCF3C}"/>
              </a:ext>
            </a:extLst>
          </p:cNvPr>
          <p:cNvSpPr txBox="1"/>
          <p:nvPr/>
        </p:nvSpPr>
        <p:spPr>
          <a:xfrm>
            <a:off x="9438662" y="2440214"/>
            <a:ext cx="2533645" cy="369332"/>
          </a:xfrm>
          <a:prstGeom prst="rect">
            <a:avLst/>
          </a:prstGeom>
          <a:noFill/>
        </p:spPr>
        <p:txBody>
          <a:bodyPr wrap="square" rtlCol="0">
            <a:spAutoFit/>
          </a:bodyPr>
          <a:lstStyle/>
          <a:p>
            <a:r>
              <a:rPr lang="en-IN" dirty="0">
                <a:solidFill>
                  <a:schemeClr val="bg1"/>
                </a:solidFill>
              </a:rPr>
              <a:t>Read the Dataset. </a:t>
            </a:r>
          </a:p>
        </p:txBody>
      </p:sp>
      <p:cxnSp>
        <p:nvCxnSpPr>
          <p:cNvPr id="17" name="Straight Arrow Connector 16">
            <a:extLst>
              <a:ext uri="{FF2B5EF4-FFF2-40B4-BE49-F238E27FC236}">
                <a16:creationId xmlns:a16="http://schemas.microsoft.com/office/drawing/2014/main" id="{AB20EA30-AA68-CC0C-F6C2-35170A8177D9}"/>
              </a:ext>
            </a:extLst>
          </p:cNvPr>
          <p:cNvCxnSpPr>
            <a:cxnSpLocks/>
          </p:cNvCxnSpPr>
          <p:nvPr/>
        </p:nvCxnSpPr>
        <p:spPr>
          <a:xfrm>
            <a:off x="9091456" y="3550359"/>
            <a:ext cx="27530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8" name="TextBox 17">
            <a:extLst>
              <a:ext uri="{FF2B5EF4-FFF2-40B4-BE49-F238E27FC236}">
                <a16:creationId xmlns:a16="http://schemas.microsoft.com/office/drawing/2014/main" id="{55A1514A-79DD-2FB4-D678-22DB51B3B8B2}"/>
              </a:ext>
            </a:extLst>
          </p:cNvPr>
          <p:cNvSpPr txBox="1"/>
          <p:nvPr/>
        </p:nvSpPr>
        <p:spPr>
          <a:xfrm>
            <a:off x="9366758" y="3229570"/>
            <a:ext cx="2324101" cy="646331"/>
          </a:xfrm>
          <a:prstGeom prst="rect">
            <a:avLst/>
          </a:prstGeom>
          <a:noFill/>
        </p:spPr>
        <p:txBody>
          <a:bodyPr wrap="square" rtlCol="0">
            <a:spAutoFit/>
          </a:bodyPr>
          <a:lstStyle/>
          <a:p>
            <a:r>
              <a:rPr lang="en-IN" dirty="0">
                <a:solidFill>
                  <a:schemeClr val="bg1"/>
                </a:solidFill>
              </a:rPr>
              <a:t>Feature Scaling &amp; Split into train, test groups</a:t>
            </a:r>
          </a:p>
        </p:txBody>
      </p:sp>
      <p:cxnSp>
        <p:nvCxnSpPr>
          <p:cNvPr id="19" name="Straight Arrow Connector 18">
            <a:extLst>
              <a:ext uri="{FF2B5EF4-FFF2-40B4-BE49-F238E27FC236}">
                <a16:creationId xmlns:a16="http://schemas.microsoft.com/office/drawing/2014/main" id="{A0368D85-A039-EB5A-3537-E298A9B07687}"/>
              </a:ext>
            </a:extLst>
          </p:cNvPr>
          <p:cNvCxnSpPr>
            <a:cxnSpLocks/>
          </p:cNvCxnSpPr>
          <p:nvPr/>
        </p:nvCxnSpPr>
        <p:spPr>
          <a:xfrm>
            <a:off x="9091456" y="4444350"/>
            <a:ext cx="27530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0" name="TextBox 19">
            <a:extLst>
              <a:ext uri="{FF2B5EF4-FFF2-40B4-BE49-F238E27FC236}">
                <a16:creationId xmlns:a16="http://schemas.microsoft.com/office/drawing/2014/main" id="{182ED959-82B2-48A8-62B1-FC7D6CB8AC27}"/>
              </a:ext>
            </a:extLst>
          </p:cNvPr>
          <p:cNvSpPr txBox="1"/>
          <p:nvPr/>
        </p:nvSpPr>
        <p:spPr>
          <a:xfrm>
            <a:off x="9366758" y="4123561"/>
            <a:ext cx="2393845" cy="369332"/>
          </a:xfrm>
          <a:prstGeom prst="rect">
            <a:avLst/>
          </a:prstGeom>
          <a:noFill/>
        </p:spPr>
        <p:txBody>
          <a:bodyPr wrap="square" rtlCol="0">
            <a:spAutoFit/>
          </a:bodyPr>
          <a:lstStyle/>
          <a:p>
            <a:r>
              <a:rPr lang="en-IN" dirty="0">
                <a:solidFill>
                  <a:schemeClr val="bg1"/>
                </a:solidFill>
              </a:rPr>
              <a:t>XGB Classifier &amp; SVM</a:t>
            </a:r>
          </a:p>
        </p:txBody>
      </p:sp>
      <p:cxnSp>
        <p:nvCxnSpPr>
          <p:cNvPr id="21" name="Straight Arrow Connector 20">
            <a:extLst>
              <a:ext uri="{FF2B5EF4-FFF2-40B4-BE49-F238E27FC236}">
                <a16:creationId xmlns:a16="http://schemas.microsoft.com/office/drawing/2014/main" id="{DB873ECB-FE3F-B97E-6878-556E3774A53D}"/>
              </a:ext>
            </a:extLst>
          </p:cNvPr>
          <p:cNvCxnSpPr>
            <a:cxnSpLocks/>
          </p:cNvCxnSpPr>
          <p:nvPr/>
        </p:nvCxnSpPr>
        <p:spPr>
          <a:xfrm>
            <a:off x="9091456" y="5301229"/>
            <a:ext cx="27530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2" name="TextBox 21">
            <a:extLst>
              <a:ext uri="{FF2B5EF4-FFF2-40B4-BE49-F238E27FC236}">
                <a16:creationId xmlns:a16="http://schemas.microsoft.com/office/drawing/2014/main" id="{B54C09D4-D7BA-E26A-9476-61EA8396A6D7}"/>
              </a:ext>
            </a:extLst>
          </p:cNvPr>
          <p:cNvSpPr txBox="1"/>
          <p:nvPr/>
        </p:nvSpPr>
        <p:spPr>
          <a:xfrm>
            <a:off x="9366758" y="4876676"/>
            <a:ext cx="2123765" cy="923330"/>
          </a:xfrm>
          <a:prstGeom prst="rect">
            <a:avLst/>
          </a:prstGeom>
          <a:noFill/>
        </p:spPr>
        <p:txBody>
          <a:bodyPr wrap="square" rtlCol="0">
            <a:spAutoFit/>
          </a:bodyPr>
          <a:lstStyle/>
          <a:p>
            <a:r>
              <a:rPr lang="en-IN" dirty="0">
                <a:solidFill>
                  <a:schemeClr val="bg1"/>
                </a:solidFill>
              </a:rPr>
              <a:t>Accuracy </a:t>
            </a:r>
          </a:p>
          <a:p>
            <a:r>
              <a:rPr lang="en-IN" dirty="0">
                <a:solidFill>
                  <a:schemeClr val="bg1"/>
                </a:solidFill>
              </a:rPr>
              <a:t>Precision &amp; Recall</a:t>
            </a:r>
          </a:p>
          <a:p>
            <a:r>
              <a:rPr lang="en-IN" dirty="0">
                <a:solidFill>
                  <a:schemeClr val="bg1"/>
                </a:solidFill>
              </a:rPr>
              <a:t>For XGB &amp; SVM</a:t>
            </a:r>
          </a:p>
        </p:txBody>
      </p:sp>
    </p:spTree>
    <p:extLst>
      <p:ext uri="{BB962C8B-B14F-4D97-AF65-F5344CB8AC3E}">
        <p14:creationId xmlns:p14="http://schemas.microsoft.com/office/powerpoint/2010/main" val="4753601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17024-33B0-179B-1996-9DEE032BCBC2}"/>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F4FCE3A-87CE-6496-D330-B939BFBA246F}"/>
              </a:ext>
            </a:extLst>
          </p:cNvPr>
          <p:cNvSpPr/>
          <p:nvPr/>
        </p:nvSpPr>
        <p:spPr>
          <a:xfrm>
            <a:off x="913795" y="1695451"/>
            <a:ext cx="10353762" cy="4295775"/>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3553755F-5FBC-4A36-060B-2CADF69F122C}"/>
              </a:ext>
            </a:extLst>
          </p:cNvPr>
          <p:cNvSpPr>
            <a:spLocks noGrp="1"/>
          </p:cNvSpPr>
          <p:nvPr>
            <p:ph type="title"/>
          </p:nvPr>
        </p:nvSpPr>
        <p:spPr>
          <a:xfrm>
            <a:off x="1056670" y="438151"/>
            <a:ext cx="10353762" cy="1257300"/>
          </a:xfrm>
        </p:spPr>
        <p:txBody>
          <a:bodyPr>
            <a:normAutofit/>
          </a:bodyPr>
          <a:lstStyle/>
          <a:p>
            <a:pPr algn="l"/>
            <a:r>
              <a:rPr lang="en-IN" sz="4800" dirty="0"/>
              <a:t>Genetic Variants:</a:t>
            </a:r>
          </a:p>
        </p:txBody>
      </p:sp>
      <p:sp>
        <p:nvSpPr>
          <p:cNvPr id="3" name="Content Placeholder 2">
            <a:extLst>
              <a:ext uri="{FF2B5EF4-FFF2-40B4-BE49-F238E27FC236}">
                <a16:creationId xmlns:a16="http://schemas.microsoft.com/office/drawing/2014/main" id="{EEAB9032-CAC6-578E-03F5-FD861BCBA3C4}"/>
              </a:ext>
            </a:extLst>
          </p:cNvPr>
          <p:cNvSpPr>
            <a:spLocks noGrp="1"/>
          </p:cNvSpPr>
          <p:nvPr>
            <p:ph idx="1"/>
          </p:nvPr>
        </p:nvSpPr>
        <p:spPr>
          <a:xfrm>
            <a:off x="1227044" y="1916292"/>
            <a:ext cx="9798143" cy="3854092"/>
          </a:xfrm>
          <a:noFill/>
          <a:ln>
            <a:noFill/>
          </a:ln>
        </p:spPr>
        <p:style>
          <a:lnRef idx="2">
            <a:schemeClr val="dk1"/>
          </a:lnRef>
          <a:fillRef idx="1">
            <a:schemeClr val="lt1"/>
          </a:fillRef>
          <a:effectRef idx="0">
            <a:schemeClr val="dk1"/>
          </a:effectRef>
          <a:fontRef idx="minor">
            <a:schemeClr val="dk1"/>
          </a:fontRef>
        </p:style>
        <p:txBody>
          <a:bodyPr>
            <a:normAutofit lnSpcReduction="10000"/>
          </a:bodyPr>
          <a:lstStyle/>
          <a:p>
            <a:pPr marL="36900" indent="0">
              <a:buNone/>
            </a:pPr>
            <a:r>
              <a:rPr lang="en-IN" sz="1800" b="1" dirty="0"/>
              <a:t>Single Nucleotide Variant (SNV)</a:t>
            </a:r>
          </a:p>
          <a:p>
            <a:r>
              <a:rPr lang="en-IN" sz="1800" dirty="0"/>
              <a:t>SNVs are the most common type of genetic variant, involving a single base change.</a:t>
            </a:r>
          </a:p>
          <a:p>
            <a:r>
              <a:rPr lang="en-IN" sz="1800" dirty="0"/>
              <a:t>For example: a cytosine (C) replaced with a thymine (T).</a:t>
            </a:r>
          </a:p>
          <a:p>
            <a:endParaRPr lang="en-IN" sz="1800" dirty="0"/>
          </a:p>
          <a:p>
            <a:pPr marL="36900" indent="0">
              <a:buNone/>
            </a:pPr>
            <a:r>
              <a:rPr lang="en-IN" sz="1800" b="1" dirty="0"/>
              <a:t>Pathogenic SNVs </a:t>
            </a:r>
            <a:r>
              <a:rPr lang="en-IN" sz="1800" dirty="0"/>
              <a:t>may disrupt protein function, leading to diseases such as:</a:t>
            </a:r>
          </a:p>
          <a:p>
            <a:r>
              <a:rPr lang="en-IN" sz="1800" dirty="0"/>
              <a:t>- Cystic fibrosis (CFTR gene mutation)</a:t>
            </a:r>
          </a:p>
          <a:p>
            <a:r>
              <a:rPr lang="en-IN" sz="1800" dirty="0"/>
              <a:t>- Sickle-cell anemia (HBB gene mutation).</a:t>
            </a:r>
          </a:p>
          <a:p>
            <a:endParaRPr lang="en-IN" sz="1800" dirty="0"/>
          </a:p>
          <a:p>
            <a:r>
              <a:rPr lang="en-IN" sz="1800" dirty="0"/>
              <a:t>Other SNVs may be benign or have no observable effect.</a:t>
            </a:r>
          </a:p>
          <a:p>
            <a:pPr marL="36900" indent="0">
              <a:buNone/>
            </a:pPr>
            <a:endParaRPr lang="en-US" sz="1800" dirty="0"/>
          </a:p>
          <a:p>
            <a:pPr marL="36900" indent="0">
              <a:buNone/>
            </a:pPr>
            <a:endParaRPr lang="en-IN" dirty="0">
              <a:solidFill>
                <a:schemeClr val="bg1"/>
              </a:solidFill>
            </a:endParaRPr>
          </a:p>
        </p:txBody>
      </p:sp>
      <p:sp>
        <p:nvSpPr>
          <p:cNvPr id="7" name="Isosceles Triangle 6">
            <a:extLst>
              <a:ext uri="{FF2B5EF4-FFF2-40B4-BE49-F238E27FC236}">
                <a16:creationId xmlns:a16="http://schemas.microsoft.com/office/drawing/2014/main" id="{A740CB5D-187D-E77C-BAF2-4CB362B66E9F}"/>
              </a:ext>
            </a:extLst>
          </p:cNvPr>
          <p:cNvSpPr/>
          <p:nvPr/>
        </p:nvSpPr>
        <p:spPr>
          <a:xfrm flipV="1">
            <a:off x="9858374" y="9526"/>
            <a:ext cx="2333626" cy="857250"/>
          </a:xfrm>
          <a:prstGeom prst="triangle">
            <a:avLst>
              <a:gd name="adj" fmla="val 100000"/>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8122571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8212C-4DAB-6DE2-9F90-20B879C970CE}"/>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A0EAD96-02EF-890E-FFFD-9BE27557971F}"/>
              </a:ext>
            </a:extLst>
          </p:cNvPr>
          <p:cNvSpPr/>
          <p:nvPr/>
        </p:nvSpPr>
        <p:spPr>
          <a:xfrm>
            <a:off x="913795" y="1695451"/>
            <a:ext cx="10353762" cy="4295775"/>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0747364D-C074-9530-B036-6270DAC2970E}"/>
              </a:ext>
            </a:extLst>
          </p:cNvPr>
          <p:cNvSpPr>
            <a:spLocks noGrp="1"/>
          </p:cNvSpPr>
          <p:nvPr>
            <p:ph type="title"/>
          </p:nvPr>
        </p:nvSpPr>
        <p:spPr>
          <a:xfrm>
            <a:off x="1056670" y="438151"/>
            <a:ext cx="10353762" cy="1257300"/>
          </a:xfrm>
        </p:spPr>
        <p:txBody>
          <a:bodyPr>
            <a:normAutofit/>
          </a:bodyPr>
          <a:lstStyle/>
          <a:p>
            <a:pPr algn="l"/>
            <a:r>
              <a:rPr lang="en-IN" sz="4800" dirty="0"/>
              <a:t>Proposed Methodology / Design  :</a:t>
            </a:r>
          </a:p>
        </p:txBody>
      </p:sp>
      <p:sp>
        <p:nvSpPr>
          <p:cNvPr id="3" name="Content Placeholder 2">
            <a:extLst>
              <a:ext uri="{FF2B5EF4-FFF2-40B4-BE49-F238E27FC236}">
                <a16:creationId xmlns:a16="http://schemas.microsoft.com/office/drawing/2014/main" id="{CA75AC33-BD3C-440F-18C7-7620D6DA099C}"/>
              </a:ext>
            </a:extLst>
          </p:cNvPr>
          <p:cNvSpPr>
            <a:spLocks noGrp="1"/>
          </p:cNvSpPr>
          <p:nvPr>
            <p:ph idx="1"/>
          </p:nvPr>
        </p:nvSpPr>
        <p:spPr>
          <a:xfrm>
            <a:off x="1227044" y="1892479"/>
            <a:ext cx="9798143" cy="4203521"/>
          </a:xfrm>
          <a:noFill/>
          <a:ln>
            <a:noFill/>
          </a:ln>
        </p:spPr>
        <p:style>
          <a:lnRef idx="2">
            <a:schemeClr val="dk1"/>
          </a:lnRef>
          <a:fillRef idx="1">
            <a:schemeClr val="lt1"/>
          </a:fillRef>
          <a:effectRef idx="0">
            <a:schemeClr val="dk1"/>
          </a:effectRef>
          <a:fontRef idx="minor">
            <a:schemeClr val="dk1"/>
          </a:fontRef>
        </p:style>
        <p:txBody>
          <a:bodyPr>
            <a:normAutofit/>
          </a:bodyPr>
          <a:lstStyle/>
          <a:p>
            <a:pPr marL="36900" indent="0">
              <a:buNone/>
            </a:pPr>
            <a:r>
              <a:rPr lang="en-US" sz="1800" b="1" dirty="0"/>
              <a:t>Steps followed for the classification in XGB Classifier and SVM</a:t>
            </a:r>
            <a:r>
              <a:rPr lang="en-US" sz="1800" dirty="0"/>
              <a:t>:</a:t>
            </a:r>
          </a:p>
          <a:p>
            <a:pPr>
              <a:buFont typeface="Wingdings" panose="05000000000000000000" pitchFamily="2" charset="2"/>
              <a:buChar char="v"/>
            </a:pPr>
            <a:r>
              <a:rPr lang="en-US" sz="1800" b="1" dirty="0"/>
              <a:t>Importing the Necessary Libraries</a:t>
            </a:r>
          </a:p>
          <a:p>
            <a:pPr lvl="1">
              <a:buFont typeface="Arial" panose="020B0604020202020204" pitchFamily="34" charset="0"/>
              <a:buChar char="•"/>
            </a:pPr>
            <a:r>
              <a:rPr lang="en-US" sz="1600" dirty="0">
                <a:effectLst/>
              </a:rPr>
              <a:t>Pandas, Numpy and Sklearn</a:t>
            </a:r>
          </a:p>
          <a:p>
            <a:pPr>
              <a:buFont typeface="Wingdings" panose="05000000000000000000" pitchFamily="2" charset="2"/>
              <a:buChar char="v"/>
            </a:pPr>
            <a:r>
              <a:rPr lang="en-US" sz="1800" b="1" dirty="0"/>
              <a:t>Importing Dataset and Preprocessing</a:t>
            </a:r>
          </a:p>
          <a:p>
            <a:pPr>
              <a:buFont typeface="Wingdings" panose="05000000000000000000" pitchFamily="2" charset="2"/>
              <a:buChar char="v"/>
            </a:pPr>
            <a:r>
              <a:rPr lang="en-US" sz="1800" b="1" dirty="0"/>
              <a:t>Feature Scaling and Splitting of Dataset</a:t>
            </a:r>
          </a:p>
          <a:p>
            <a:pPr lvl="1">
              <a:buFont typeface="Arial" panose="020B0604020202020204" pitchFamily="34" charset="0"/>
              <a:buChar char="•"/>
            </a:pPr>
            <a:r>
              <a:rPr lang="en-US" sz="1600" dirty="0"/>
              <a:t>Feature Scaling refers to the normalization of values and once done we will split the dataset.</a:t>
            </a:r>
          </a:p>
          <a:p>
            <a:pPr>
              <a:buFont typeface="Wingdings" panose="05000000000000000000" pitchFamily="2" charset="2"/>
              <a:buChar char="v"/>
            </a:pPr>
            <a:r>
              <a:rPr lang="en-US" sz="1800" b="1" dirty="0"/>
              <a:t>Training the respective models</a:t>
            </a:r>
          </a:p>
          <a:p>
            <a:pPr lvl="1">
              <a:buFont typeface="Arial" panose="020B0604020202020204" pitchFamily="34" charset="0"/>
              <a:buChar char="•"/>
            </a:pPr>
            <a:r>
              <a:rPr lang="en-US" sz="1600" dirty="0"/>
              <a:t>XGB Classifier and SVM</a:t>
            </a:r>
          </a:p>
          <a:p>
            <a:pPr>
              <a:buFont typeface="Wingdings" panose="05000000000000000000" pitchFamily="2" charset="2"/>
              <a:buChar char="v"/>
            </a:pPr>
            <a:r>
              <a:rPr lang="en-US" sz="1800" b="1" dirty="0"/>
              <a:t>Analysis of the Results</a:t>
            </a:r>
          </a:p>
          <a:p>
            <a:pPr lvl="1">
              <a:buFont typeface="Arial" panose="020B0604020202020204" pitchFamily="34" charset="0"/>
              <a:buChar char="•"/>
            </a:pPr>
            <a:r>
              <a:rPr lang="en-US" sz="1600" dirty="0"/>
              <a:t>Based on Accuracy</a:t>
            </a:r>
          </a:p>
        </p:txBody>
      </p:sp>
      <p:sp>
        <p:nvSpPr>
          <p:cNvPr id="7" name="Isosceles Triangle 6">
            <a:extLst>
              <a:ext uri="{FF2B5EF4-FFF2-40B4-BE49-F238E27FC236}">
                <a16:creationId xmlns:a16="http://schemas.microsoft.com/office/drawing/2014/main" id="{A29D6B54-6738-1DB8-AF14-D580F91C494A}"/>
              </a:ext>
            </a:extLst>
          </p:cNvPr>
          <p:cNvSpPr/>
          <p:nvPr/>
        </p:nvSpPr>
        <p:spPr>
          <a:xfrm flipV="1">
            <a:off x="9858374" y="9526"/>
            <a:ext cx="2333626" cy="857250"/>
          </a:xfrm>
          <a:prstGeom prst="triangle">
            <a:avLst>
              <a:gd name="adj" fmla="val 100000"/>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6340758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F1073-EED9-0263-0991-5D58F7D32998}"/>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1C9CEA70-2E32-0340-9DD8-E2C4826A82CB}"/>
              </a:ext>
            </a:extLst>
          </p:cNvPr>
          <p:cNvSpPr/>
          <p:nvPr/>
        </p:nvSpPr>
        <p:spPr>
          <a:xfrm>
            <a:off x="913795" y="1695451"/>
            <a:ext cx="10353762" cy="4295775"/>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0504E6C0-AFE7-DC3A-9403-A278F9E8A885}"/>
              </a:ext>
            </a:extLst>
          </p:cNvPr>
          <p:cNvSpPr>
            <a:spLocks noGrp="1"/>
          </p:cNvSpPr>
          <p:nvPr>
            <p:ph type="title"/>
          </p:nvPr>
        </p:nvSpPr>
        <p:spPr>
          <a:xfrm>
            <a:off x="1056670" y="438151"/>
            <a:ext cx="10353762" cy="1257300"/>
          </a:xfrm>
        </p:spPr>
        <p:txBody>
          <a:bodyPr>
            <a:normAutofit/>
          </a:bodyPr>
          <a:lstStyle/>
          <a:p>
            <a:pPr algn="l"/>
            <a:r>
              <a:rPr lang="en-IN" sz="4800" dirty="0"/>
              <a:t>Conclusion:</a:t>
            </a:r>
          </a:p>
        </p:txBody>
      </p:sp>
      <p:sp>
        <p:nvSpPr>
          <p:cNvPr id="3" name="Content Placeholder 2">
            <a:extLst>
              <a:ext uri="{FF2B5EF4-FFF2-40B4-BE49-F238E27FC236}">
                <a16:creationId xmlns:a16="http://schemas.microsoft.com/office/drawing/2014/main" id="{E9AFB88A-C3F9-F868-D4CB-4B273D1FD74C}"/>
              </a:ext>
            </a:extLst>
          </p:cNvPr>
          <p:cNvSpPr>
            <a:spLocks noGrp="1"/>
          </p:cNvSpPr>
          <p:nvPr>
            <p:ph idx="1"/>
          </p:nvPr>
        </p:nvSpPr>
        <p:spPr>
          <a:xfrm>
            <a:off x="1227044" y="1916292"/>
            <a:ext cx="9798143" cy="3854092"/>
          </a:xfrm>
          <a:noFill/>
          <a:ln>
            <a:noFill/>
          </a:ln>
        </p:spPr>
        <p:style>
          <a:lnRef idx="2">
            <a:schemeClr val="dk1"/>
          </a:lnRef>
          <a:fillRef idx="1">
            <a:schemeClr val="lt1"/>
          </a:fillRef>
          <a:effectRef idx="0">
            <a:schemeClr val="dk1"/>
          </a:effectRef>
          <a:fontRef idx="minor">
            <a:schemeClr val="dk1"/>
          </a:fontRef>
        </p:style>
        <p:txBody>
          <a:bodyPr>
            <a:normAutofit/>
          </a:bodyPr>
          <a:lstStyle/>
          <a:p>
            <a:r>
              <a:rPr lang="en-US" sz="1800" dirty="0"/>
              <a:t>Genetic variants are crucial for understanding health and disease.</a:t>
            </a:r>
          </a:p>
          <a:p>
            <a:r>
              <a:rPr lang="en-US" sz="1800" dirty="0"/>
              <a:t>The ClinVar Conflicting dataset highlights inconsistencies in variant classification, making it a valuable resource for developing machine learning models.</a:t>
            </a:r>
          </a:p>
          <a:p>
            <a:endParaRPr lang="en-US" sz="1800" dirty="0"/>
          </a:p>
          <a:p>
            <a:pPr marL="36900" indent="0">
              <a:buNone/>
            </a:pPr>
            <a:r>
              <a:rPr lang="en-US" sz="1800" b="1" dirty="0"/>
              <a:t>Future Work:</a:t>
            </a:r>
          </a:p>
          <a:p>
            <a:r>
              <a:rPr lang="en-US" sz="1800" dirty="0"/>
              <a:t>- Apply classic ML models (Random Forest, SVM, </a:t>
            </a:r>
            <a:r>
              <a:rPr lang="en-US" sz="1800" dirty="0" err="1"/>
              <a:t>XGBoost</a:t>
            </a:r>
            <a:r>
              <a:rPr lang="en-US" sz="1800" dirty="0"/>
              <a:t>).</a:t>
            </a:r>
          </a:p>
          <a:p>
            <a:r>
              <a:rPr lang="en-US" sz="1800" dirty="0"/>
              <a:t>- Explore neural networks for higher accuracy.</a:t>
            </a:r>
          </a:p>
          <a:p>
            <a:r>
              <a:rPr lang="en-US" sz="1800" dirty="0"/>
              <a:t>- Use explainable AI to interpret predictions.</a:t>
            </a:r>
          </a:p>
          <a:p>
            <a:r>
              <a:rPr lang="en-US" sz="1800" dirty="0"/>
              <a:t>This project bridges genomics and AI to improve variant interpretation.</a:t>
            </a:r>
          </a:p>
          <a:p>
            <a:pPr marL="36900" indent="0">
              <a:buNone/>
            </a:pPr>
            <a:endParaRPr lang="en-US" sz="1800" dirty="0"/>
          </a:p>
          <a:p>
            <a:pPr marL="36900" indent="0">
              <a:buNone/>
            </a:pPr>
            <a:endParaRPr lang="en-IN" dirty="0">
              <a:solidFill>
                <a:schemeClr val="bg1"/>
              </a:solidFill>
            </a:endParaRPr>
          </a:p>
        </p:txBody>
      </p:sp>
      <p:sp>
        <p:nvSpPr>
          <p:cNvPr id="7" name="Isosceles Triangle 6">
            <a:extLst>
              <a:ext uri="{FF2B5EF4-FFF2-40B4-BE49-F238E27FC236}">
                <a16:creationId xmlns:a16="http://schemas.microsoft.com/office/drawing/2014/main" id="{2E59FC20-E6B7-5ADD-1FBF-F8D74493D8BB}"/>
              </a:ext>
            </a:extLst>
          </p:cNvPr>
          <p:cNvSpPr/>
          <p:nvPr/>
        </p:nvSpPr>
        <p:spPr>
          <a:xfrm flipV="1">
            <a:off x="9858374" y="9526"/>
            <a:ext cx="2333626" cy="857250"/>
          </a:xfrm>
          <a:prstGeom prst="triangle">
            <a:avLst>
              <a:gd name="adj" fmla="val 100000"/>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2286784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5963B-72AB-1CDF-9D6B-C876C4D6F053}"/>
              </a:ext>
            </a:extLst>
          </p:cNvPr>
          <p:cNvSpPr>
            <a:spLocks noGrp="1"/>
          </p:cNvSpPr>
          <p:nvPr>
            <p:ph type="title"/>
          </p:nvPr>
        </p:nvSpPr>
        <p:spPr>
          <a:xfrm>
            <a:off x="751870" y="2428875"/>
            <a:ext cx="10353762" cy="1257300"/>
          </a:xfrm>
        </p:spPr>
        <p:txBody>
          <a:bodyPr/>
          <a:lstStyle/>
          <a:p>
            <a:r>
              <a:rPr lang="en-IN" dirty="0"/>
              <a:t>Thank You</a:t>
            </a:r>
          </a:p>
        </p:txBody>
      </p:sp>
    </p:spTree>
    <p:extLst>
      <p:ext uri="{BB962C8B-B14F-4D97-AF65-F5344CB8AC3E}">
        <p14:creationId xmlns:p14="http://schemas.microsoft.com/office/powerpoint/2010/main" val="166660951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VTI">
  <a:themeElements>
    <a:clrScheme name="Custom 35">
      <a:dk1>
        <a:sysClr val="windowText" lastClr="000000"/>
      </a:dk1>
      <a:lt1>
        <a:sysClr val="window" lastClr="FFFFFF"/>
      </a:lt1>
      <a:dk2>
        <a:srgbClr val="4E3B30"/>
      </a:dk2>
      <a:lt2>
        <a:srgbClr val="F4EDD8"/>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Custom 4">
      <a:majorFont>
        <a:latin typeface="Goudy Old Style"/>
        <a:ea typeface=""/>
        <a:cs typeface=""/>
      </a:majorFont>
      <a:minorFont>
        <a:latin typeface="Goudy Old Style"/>
        <a:ea typeface=""/>
        <a:cs typeface=""/>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VTI" id="{35C4A07C-0176-4A32-9BCB-B016516853F0}" vid="{9B70D35C-BCA8-4715-BB49-8BE54A7FC0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4B270AB-C138-415C-897E-3C24487DECF1}">
  <ds:schemaRefs>
    <ds:schemaRef ds:uri="http://schemas.microsoft.com/sharepoint/v3/contenttype/forms"/>
  </ds:schemaRefs>
</ds:datastoreItem>
</file>

<file path=customXml/itemProps2.xml><?xml version="1.0" encoding="utf-8"?>
<ds:datastoreItem xmlns:ds="http://schemas.openxmlformats.org/officeDocument/2006/customXml" ds:itemID="{2C4C00F4-06E9-43E3-AD97-88A857CEFA82}">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85E981-8C91-4205-A0C3-C991F42B4C9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{52143751-3886-40A3-BBA2-B159C8286B23}tf55705232_win32</Template>
  <TotalTime>241</TotalTime>
  <Words>588</Words>
  <Application>Microsoft Office PowerPoint</Application>
  <PresentationFormat>Widescreen</PresentationFormat>
  <Paragraphs>78</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Calibri</vt:lpstr>
      <vt:lpstr>Goudy Old Style</vt:lpstr>
      <vt:lpstr>Wingdings</vt:lpstr>
      <vt:lpstr>Wingdings 2</vt:lpstr>
      <vt:lpstr>SlateVTI</vt:lpstr>
      <vt:lpstr>Genetic Variant Classification </vt:lpstr>
      <vt:lpstr>Abstract:</vt:lpstr>
      <vt:lpstr>Introduction:</vt:lpstr>
      <vt:lpstr>Literature Review :</vt:lpstr>
      <vt:lpstr>Dataset &amp; Overall Flow of Project:</vt:lpstr>
      <vt:lpstr>Genetic Variants:</vt:lpstr>
      <vt:lpstr>Proposed Methodology / Design  :</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Sarvesh Ram Kumar</dc:creator>
  <cp:lastModifiedBy>Sarvesh Ram Kumar</cp:lastModifiedBy>
  <cp:revision>18</cp:revision>
  <dcterms:created xsi:type="dcterms:W3CDTF">2025-08-19T10:01:21Z</dcterms:created>
  <dcterms:modified xsi:type="dcterms:W3CDTF">2025-08-21T14:35:52Z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